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0617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291840"/>
            <a:ext cx="5669280" cy="5669280"/>
          </a:xfrm>
          <a:prstGeom prst="ellipse">
            <a:avLst/>
          </a:prstGeom>
          <a:solidFill>
            <a:srgbClr val="0B6E6B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241280" y="4572000"/>
            <a:ext cx="3840480" cy="3840480"/>
          </a:xfrm>
          <a:prstGeom prst="ellipse">
            <a:avLst/>
          </a:prstGeom>
          <a:solidFill>
            <a:srgbClr val="0E8F8C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8FD0C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REPRODUCTION PROJECT · DIFFUSION NEUROIMAGING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8595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Does brain wiring track</a:t>
            </a:r>
            <a:endParaRPr lang="en-US" sz="4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severe OCD is?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F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Re-testing a landmark ENIGMA-OCD diffusion-MRI finding in a new sample of adults with OCD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5806440"/>
            <a:ext cx="2926080" cy="0"/>
          </a:xfrm>
          <a:prstGeom prst="line">
            <a:avLst/>
          </a:prstGeom>
          <a:noFill/>
          <a:ln w="25400">
            <a:solidFill>
              <a:srgbClr val="0E8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Piras et al. (2021), Translational Psychiatry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8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QUESTION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0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 Diffusion Neuroimaging show how severe a participant’s OCD is?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Obsessive–compulsive disorder is linked to differences in the brain's wiring. The project asked a simple question: do those wiring differences get bigger as symptoms get worse?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41071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4"/>
            </a:solidFill>
            <a:prstDash val="solid"/>
          </a:ln>
          <a:effectLst>
            <a:outerShdw blurRad="88900" dist="38100" dir="8100000" algn="bl" rotWithShape="0">
              <a:srgbClr val="0E2A3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3410712" cy="109728"/>
          </a:xfrm>
          <a:prstGeom prst="rect">
            <a:avLst/>
          </a:prstGeom>
          <a:solidFill>
            <a:srgbClr val="0E8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3035808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2953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condition of intrusive thoughts (obsessions) and repetitive behaviours (compulsions).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79976" y="2743200"/>
            <a:ext cx="341071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4"/>
            </a:solidFill>
            <a:prstDash val="solid"/>
          </a:ln>
          <a:effectLst>
            <a:outerShdw blurRad="88900" dist="38100" dir="8100000" algn="bl" rotWithShape="0">
              <a:srgbClr val="0E2A3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79976" y="2743200"/>
            <a:ext cx="3410712" cy="109728"/>
          </a:xfrm>
          <a:prstGeom prst="rect">
            <a:avLst/>
          </a:prstGeom>
          <a:solidFill>
            <a:srgbClr val="0E8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08576" y="3035808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wiring (DTI)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08576" y="3611880"/>
            <a:ext cx="2953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MRI that measures the quality of the brain's white-matter cabling.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119872" y="2743200"/>
            <a:ext cx="341071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4"/>
            </a:solidFill>
            <a:prstDash val="solid"/>
          </a:ln>
          <a:effectLst>
            <a:outerShdw blurRad="88900" dist="38100" dir="8100000" algn="bl" rotWithShape="0">
              <a:srgbClr val="0E2A3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119872" y="2743200"/>
            <a:ext cx="3410712" cy="109728"/>
          </a:xfrm>
          <a:prstGeom prst="rect">
            <a:avLst/>
          </a:prstGeom>
          <a:solidFill>
            <a:srgbClr val="0E8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48472" y="3035808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Severity (Y-BOCS-II)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348472" y="3611880"/>
            <a:ext cx="2953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clinician score of how severe a person's symptoms are.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" y="53949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Reproduction Project </a:t>
            </a:r>
            <a:r>
              <a:rPr lang="en-US" b="1" dirty="0">
                <a:solidFill>
                  <a:srgbClr val="0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r>
              <a:rPr lang="en-US" sz="1800" b="1" dirty="0">
                <a:solidFill>
                  <a:srgbClr val="0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est: </a:t>
            </a:r>
            <a:r>
              <a:rPr lang="en-US" sz="1800" b="1" dirty="0">
                <a:solidFill>
                  <a:schemeClr val="accent6">
                    <a:lumMod val="50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Baseline </a:t>
            </a:r>
            <a:r>
              <a:rPr lang="en-US" sz="1800" b="1" dirty="0" err="1">
                <a:solidFill>
                  <a:schemeClr val="accent6">
                    <a:lumMod val="50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dMRI</a:t>
            </a:r>
            <a:r>
              <a:rPr lang="en-US" sz="1800" b="1" dirty="0">
                <a:solidFill>
                  <a:schemeClr val="accent6">
                    <a:lumMod val="50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DTI metrics predicts Y-BOCS-II Scores</a:t>
            </a:r>
            <a:r>
              <a:rPr lang="en-US" sz="1800" dirty="0">
                <a:solidFill>
                  <a:srgbClr val="0B6E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8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ORIGINAL FINDING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0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ENIGMA-OCD (Multisite- International Study)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ENIGMA-OCD consortium pooled brain scans from across the world. It found subtle wiring differences in OCD, but those differences did NOT grow with symptom severity.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3410712" cy="2377440"/>
          </a:xfrm>
          <a:prstGeom prst="rect">
            <a:avLst/>
          </a:prstGeom>
          <a:solidFill>
            <a:srgbClr val="F2F6F7"/>
          </a:solidFill>
          <a:ln w="12700">
            <a:solidFill>
              <a:srgbClr val="D8E2E4"/>
            </a:solidFill>
            <a:prstDash val="solid"/>
          </a:ln>
          <a:effectLst>
            <a:outerShdw blurRad="88900" dist="38100" dir="8100000" algn="bl" rotWithShape="0">
              <a:srgbClr val="0E2A3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3044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E8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1,345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22960" y="4526280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scanned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79976" y="2926080"/>
            <a:ext cx="3410712" cy="2377440"/>
          </a:xfrm>
          <a:prstGeom prst="rect">
            <a:avLst/>
          </a:prstGeom>
          <a:solidFill>
            <a:srgbClr val="F2F6F7"/>
          </a:solidFill>
          <a:ln w="12700">
            <a:solidFill>
              <a:srgbClr val="D8E2E4"/>
            </a:solidFill>
            <a:prstDash val="solid"/>
          </a:ln>
          <a:effectLst>
            <a:outerShdw blurRad="88900" dist="38100" dir="8100000" algn="bl" rotWithShape="0">
              <a:srgbClr val="0E2A3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62856" y="3383280"/>
            <a:ext cx="3044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E8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562856" y="4526280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sites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19872" y="2926080"/>
            <a:ext cx="3410712" cy="2377440"/>
          </a:xfrm>
          <a:prstGeom prst="rect">
            <a:avLst/>
          </a:prstGeom>
          <a:solidFill>
            <a:srgbClr val="0E2A3A"/>
          </a:solidFill>
          <a:ln w="12700">
            <a:solidFill>
              <a:srgbClr val="D8E2E4"/>
            </a:solidFill>
            <a:prstDash val="solid"/>
          </a:ln>
          <a:effectLst>
            <a:outerShdw blurRad="88900" dist="38100" dir="8100000" algn="bl" rotWithShape="0">
              <a:srgbClr val="0E2A3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02752" y="3383280"/>
            <a:ext cx="3044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090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link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302752" y="4526280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symptom severity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Piras et al. (2021), ENIGMA OCD Working Group, Translational Psychiatry, 11, 173.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8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Methods for Reproduction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0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Methods for re-testing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47088"/>
            <a:ext cx="457200" cy="457200"/>
          </a:xfrm>
          <a:prstGeom prst="ellipse">
            <a:avLst/>
          </a:prstGeom>
          <a:solidFill>
            <a:srgbClr val="0E8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80160" y="177393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59 adults with severe OCD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80160" y="213055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had a usable diffusion-MRI and a Y-BOCS-II symptom score.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871216"/>
            <a:ext cx="457200" cy="457200"/>
          </a:xfrm>
          <a:prstGeom prst="ellipse">
            <a:avLst/>
          </a:prstGeom>
          <a:solidFill>
            <a:srgbClr val="0E8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871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80160" y="279806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wiring measures × 15 key tracts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280160" y="31546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on the brain pathways the original study flagged.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895344"/>
            <a:ext cx="457200" cy="457200"/>
          </a:xfrm>
          <a:prstGeom prst="ellipse">
            <a:avLst/>
          </a:prstGeom>
          <a:solidFill>
            <a:srgbClr val="0E8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80160" y="38221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Compared wiring to symptoms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280160" y="417880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Adjusting for age and sex, exactly as the original study did.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919472"/>
            <a:ext cx="457200" cy="457200"/>
          </a:xfrm>
          <a:prstGeom prst="ellipse">
            <a:avLst/>
          </a:prstGeom>
          <a:solidFill>
            <a:srgbClr val="0E8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80160" y="4846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Corrected for many tests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280160" y="5202936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Calibri" pitchFamily="34" charset="0"/>
                <a:cs typeface="Calibri" pitchFamily="34" charset="-120"/>
              </a:rPr>
              <a:t>Correcting for multiple comparisons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360920" y="1783080"/>
            <a:ext cx="41605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4"/>
            </a:solidFill>
            <a:prstDash val="solid"/>
          </a:ln>
          <a:effectLst>
            <a:outerShdw blurRad="88900" dist="38100" dir="8100000" algn="bl" rotWithShape="0">
              <a:srgbClr val="0E2A3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0" descr="figures/fig1_severity_distribution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98080" y="2240280"/>
            <a:ext cx="3886200" cy="109728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543800" y="19019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was in the sample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543800" y="342900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was already moderately-to-severely affected — the scores are bunched toward the high end.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8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0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Significant Findings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9436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4"/>
            </a:solidFill>
            <a:prstDash val="solid"/>
          </a:ln>
          <a:effectLst>
            <a:outerShdw blurRad="88900" dist="38100" dir="8100000" algn="bl" rotWithShape="0">
              <a:srgbClr val="0E2A3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figures/fig2_FA_fores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965960"/>
            <a:ext cx="557784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0" y="192024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 is one brain pathway. If wiring tracked severity, the dots would sit far from the centre line. Instead, every one lands on or near zero.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58000" y="3520440"/>
            <a:ext cx="4663440" cy="1417320"/>
          </a:xfrm>
          <a:prstGeom prst="rect">
            <a:avLst/>
          </a:prstGeom>
          <a:solidFill>
            <a:srgbClr val="F2F6F7"/>
          </a:solidFill>
          <a:ln w="12700">
            <a:solidFill>
              <a:srgbClr val="D8E2E4"/>
            </a:solidFill>
            <a:prstDash val="solid"/>
          </a:ln>
          <a:effectLst>
            <a:outerShdw blurRad="88900" dist="38100" dir="8100000" algn="bl" rotWithShape="0">
              <a:srgbClr val="0E2A3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858000" y="36576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E8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−0.21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7086600" y="4389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correlation found — still not statistically significant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0" y="51206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AA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correlation of 0 means no relationship; 1 would be a perfect one.)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8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0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Results Match </a:t>
            </a:r>
            <a:r>
              <a:rPr lang="en-US" sz="3300" b="1" dirty="0" err="1">
                <a:solidFill>
                  <a:srgbClr val="0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Engima</a:t>
            </a:r>
            <a:r>
              <a:rPr lang="en-US" sz="3300" b="1" dirty="0">
                <a:solidFill>
                  <a:srgbClr val="0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(Null Findings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Reproduced the test for all four wiring measures and for both symptom types (obsessions and compulsions).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5212080" cy="2194560"/>
          </a:xfrm>
          <a:prstGeom prst="rect">
            <a:avLst/>
          </a:prstGeom>
          <a:solidFill>
            <a:srgbClr val="0E2A3A"/>
          </a:solidFill>
          <a:ln w="12700">
            <a:solidFill>
              <a:srgbClr val="D8E2E4"/>
            </a:solidFill>
            <a:prstDash val="solid"/>
          </a:ln>
          <a:effectLst>
            <a:outerShdw blurRad="88900" dist="38100" dir="8100000" algn="bl" rotWithShape="0">
              <a:srgbClr val="0E2A3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34747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E090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 of 90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1005840" y="44348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F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tests showed a real link between brain wiring and symptom severity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25780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4"/>
            </a:solidFill>
            <a:prstDash val="solid"/>
          </a:ln>
          <a:effectLst>
            <a:outerShdw blurRad="88900" dist="38100" dir="8100000" algn="bl" rotWithShape="0">
              <a:srgbClr val="0E2A3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figures/fig3_heatma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03720" y="1874520"/>
            <a:ext cx="393192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8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MEANS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0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fingerprint, not a thermometer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wiring pattern seen in OCD looks more like a stable trait than a gauge that rises and falls with symptoms. This reproduction dataset reached the same conclusion as the ENIGMA OCD.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5276088" cy="2651760"/>
          </a:xfrm>
          <a:prstGeom prst="rect">
            <a:avLst/>
          </a:prstGeom>
          <a:solidFill>
            <a:srgbClr val="F2F6F7"/>
          </a:solidFill>
          <a:ln w="12700">
            <a:solidFill>
              <a:srgbClr val="D8E2E4"/>
            </a:solidFill>
            <a:prstDash val="solid"/>
          </a:ln>
          <a:effectLst>
            <a:outerShdw blurRad="88900" dist="38100" dir="8100000" algn="bl" rotWithShape="0">
              <a:srgbClr val="0E2A3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4727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B6B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Thermometer  (a “state”)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4727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go up and down with current symptoms. The data did NOT behave this way.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45352" y="2926080"/>
            <a:ext cx="5276088" cy="2651760"/>
          </a:xfrm>
          <a:prstGeom prst="rect">
            <a:avLst/>
          </a:prstGeom>
          <a:solidFill>
            <a:srgbClr val="0E2A3A"/>
          </a:solidFill>
          <a:ln w="12700">
            <a:solidFill>
              <a:srgbClr val="D8E2E4"/>
            </a:solidFill>
            <a:prstDash val="solid"/>
          </a:ln>
          <a:effectLst>
            <a:outerShdw blurRad="88900" dist="38100" dir="8100000" algn="bl" rotWithShape="0">
              <a:srgbClr val="0E2A3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245352" y="2926080"/>
            <a:ext cx="128016" cy="2651760"/>
          </a:xfrm>
          <a:prstGeom prst="rect">
            <a:avLst/>
          </a:prstGeom>
          <a:solidFill>
            <a:srgbClr val="E09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65392" y="3200400"/>
            <a:ext cx="4636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Fingerprint  (a “trait”)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65392" y="3840480"/>
            <a:ext cx="46360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8F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stable feature that doesn't scale with how bad symptoms are today. This fits what the data produced.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8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WORTH KEEPING IN MIND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0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341071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4"/>
            </a:solidFill>
            <a:prstDash val="solid"/>
          </a:ln>
          <a:effectLst>
            <a:outerShdw blurRad="88900" dist="38100" dir="8100000" algn="bl" rotWithShape="0">
              <a:srgbClr val="0E2A3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743200"/>
            <a:ext cx="502920" cy="502920"/>
          </a:xfrm>
          <a:prstGeom prst="ellipse">
            <a:avLst/>
          </a:prstGeom>
          <a:solidFill>
            <a:srgbClr val="0E8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0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healthy comparison group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only test the symptom link, not whether OCD brains differ from others.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79976" y="2468880"/>
            <a:ext cx="341071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4"/>
            </a:solidFill>
            <a:prstDash val="solid"/>
          </a:ln>
          <a:effectLst>
            <a:outerShdw blurRad="88900" dist="38100" dir="8100000" algn="bl" rotWithShape="0">
              <a:srgbClr val="0E2A3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54296" y="2743200"/>
            <a:ext cx="502920" cy="502920"/>
          </a:xfrm>
          <a:prstGeom prst="ellipse">
            <a:avLst/>
          </a:prstGeom>
          <a:solidFill>
            <a:srgbClr val="0E8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54296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54296" y="3429000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0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Everyone was already severe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54296" y="420624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little spread in symptoms, even a real gradient would be hard to see.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19872" y="2468880"/>
            <a:ext cx="341071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4"/>
            </a:solidFill>
            <a:prstDash val="solid"/>
          </a:ln>
          <a:effectLst>
            <a:outerShdw blurRad="88900" dist="38100" dir="8100000" algn="bl" rotWithShape="0">
              <a:srgbClr val="0E2A3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94192" y="2743200"/>
            <a:ext cx="502920" cy="502920"/>
          </a:xfrm>
          <a:prstGeom prst="ellipse">
            <a:avLst/>
          </a:prstGeom>
          <a:solidFill>
            <a:srgbClr val="0E8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94192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94192" y="3429000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0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Modest sample size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94192" y="420624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fairly strong links would reliably show up; small effects could be missed.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short: the result rules OUT moderate-or-larger links, rather than demonstrating there is none at all.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023360"/>
            <a:ext cx="5486400" cy="5486400"/>
          </a:xfrm>
          <a:prstGeom prst="ellipse">
            <a:avLst/>
          </a:prstGeom>
          <a:solidFill>
            <a:srgbClr val="0B6E6B">
              <a:alpha val="2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8FD0C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Brain-wiring measures did not track OCD symptom severity — replicating the largest study to date.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379476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8F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15 key pathways and 4 wiring measures, nothing scaled with symptoms.</a:t>
            </a:r>
            <a:endParaRPr lang="en-US" sz="16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8F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supports viewing OCD's wiring signature as a stable trait, not a symptom gauge.</a:t>
            </a:r>
            <a:endParaRPr lang="en-US" sz="16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8F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independent replication of the ENIGMA-OCD severity result.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40080" y="6035040"/>
            <a:ext cx="2926080" cy="0"/>
          </a:xfrm>
          <a:prstGeom prst="line">
            <a:avLst/>
          </a:prstGeom>
          <a:noFill/>
          <a:ln w="25400">
            <a:solidFill>
              <a:srgbClr val="0E8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6172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methods, tables, figures and an auditable analysis notebook accompany this reproduction project on </a:t>
            </a:r>
            <a:r>
              <a:rPr lang="en-US" sz="1250" dirty="0" err="1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sz="125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667</Words>
  <Application>Microsoft Macintosh PowerPoint</Application>
  <PresentationFormat>Widescreen</PresentationFormat>
  <Paragraphs>86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Brain wiring and OCD severity — a reproduction study</dc:title>
  <dc:subject>PptxGenJS Presentation</dc:subject>
  <dc:creator>OCD DTI reproduction</dc:creator>
  <cp:lastModifiedBy>Oscar Delfin</cp:lastModifiedBy>
  <cp:revision>5</cp:revision>
  <dcterms:created xsi:type="dcterms:W3CDTF">2026-06-08T04:56:01Z</dcterms:created>
  <dcterms:modified xsi:type="dcterms:W3CDTF">2026-06-09T18:37:11Z</dcterms:modified>
</cp:coreProperties>
</file>